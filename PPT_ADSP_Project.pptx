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78" r:id="rId5"/>
    <p:sldId id="259" r:id="rId6"/>
    <p:sldId id="274" r:id="rId7"/>
    <p:sldId id="280" r:id="rId8"/>
    <p:sldId id="286" r:id="rId9"/>
    <p:sldId id="288" r:id="rId10"/>
    <p:sldId id="287" r:id="rId11"/>
    <p:sldId id="276" r:id="rId12"/>
    <p:sldId id="283" r:id="rId13"/>
    <p:sldId id="279" r:id="rId14"/>
    <p:sldId id="282" r:id="rId15"/>
    <p:sldId id="284" r:id="rId16"/>
    <p:sldId id="267" r:id="rId17"/>
    <p:sldId id="268" r:id="rId18"/>
    <p:sldId id="269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80"/>
  </p:normalViewPr>
  <p:slideViewPr>
    <p:cSldViewPr snapToGrid="0" snapToObjects="1">
      <p:cViewPr>
        <p:scale>
          <a:sx n="125" d="100"/>
          <a:sy n="125" d="100"/>
        </p:scale>
        <p:origin x="124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090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89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256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8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496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04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35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98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3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71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251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001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73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548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35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438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58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6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Mini Project on Water Body Segmentation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150990"/>
            <a:ext cx="8229600" cy="3669703"/>
          </a:xfrm>
        </p:spPr>
        <p:txBody>
          <a:bodyPr>
            <a:normAutofit fontScale="77500" lnSpcReduction="20000"/>
          </a:bodyPr>
          <a:lstStyle/>
          <a:p>
            <a:pPr algn="ctr"/>
            <a:endParaRPr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r>
              <a:rPr lang="en-IN" sz="3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Upendra Kumar Sahoo</a:t>
            </a:r>
          </a:p>
          <a:p>
            <a:pPr marL="0" indent="0" algn="ctr">
              <a:buNone/>
            </a:pPr>
            <a:r>
              <a:rPr lang="en-IN" sz="2800" b="1" dirty="0"/>
              <a:t>Submitted by-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Anirudh Tikoo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Jisas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Patel,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Nishad Sanjay Patil,  Tanushree Das, Adarsh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Saswat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National Institute of Technology, Rourkela - Wikipedia">
            <a:extLst>
              <a:ext uri="{FF2B5EF4-FFF2-40B4-BE49-F238E27FC236}">
                <a16:creationId xmlns:a16="http://schemas.microsoft.com/office/drawing/2014/main" id="{0DCBC043-9CE4-064C-0FBD-4F81B4173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800" y="2438400"/>
            <a:ext cx="2161146" cy="185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Introduction /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dirty="0"/>
              <a:t>• Importance of water-body segmentation</a:t>
            </a:r>
          </a:p>
          <a:p>
            <a:pPr marL="0" indent="0">
              <a:buNone/>
            </a:pPr>
            <a:r>
              <a:rPr dirty="0"/>
              <a:t>• Satellite-based flood monitoring</a:t>
            </a:r>
          </a:p>
          <a:p>
            <a:pPr marL="0" indent="0">
              <a:buNone/>
            </a:pPr>
            <a:r>
              <a:rPr dirty="0"/>
              <a:t>• Need for lightweight &amp; accurate models</a:t>
            </a:r>
          </a:p>
          <a:p>
            <a:pPr marL="0" indent="0">
              <a:buNone/>
            </a:pPr>
            <a:r>
              <a:rPr dirty="0"/>
              <a:t>• Challenges with traditional thresholding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dirty="0"/>
              <a:t>• Build lightweight U-Net model</a:t>
            </a:r>
          </a:p>
          <a:p>
            <a:pPr marL="0" indent="0">
              <a:buNone/>
            </a:pPr>
            <a:r>
              <a:rPr dirty="0"/>
              <a:t>• Improve segmentation accuracy</a:t>
            </a:r>
          </a:p>
          <a:p>
            <a:pPr marL="0" indent="0">
              <a:buNone/>
            </a:pPr>
            <a:r>
              <a:rPr dirty="0"/>
              <a:t>• Apply Kalman smoothing</a:t>
            </a:r>
          </a:p>
          <a:p>
            <a:pPr marL="0" indent="0">
              <a:buNone/>
            </a:pPr>
            <a:r>
              <a:rPr dirty="0"/>
              <a:t>• Robust postprocessing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37BC-71A4-E231-6248-474E6B83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</a:t>
            </a:r>
            <a:r>
              <a:rPr lang="en-IN" sz="3200" dirty="0"/>
              <a:t>OFTWARE / TOOLS 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B3FB2-03BD-02BF-5065-1B2AC0C09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Programming Language: </a:t>
            </a:r>
            <a:r>
              <a:rPr lang="en-IN" dirty="0"/>
              <a:t>Python 3.12</a:t>
            </a:r>
          </a:p>
          <a:p>
            <a:r>
              <a:rPr lang="en-IN" b="1" dirty="0"/>
              <a:t>Key Python Libraries</a:t>
            </a:r>
          </a:p>
          <a:p>
            <a:r>
              <a:rPr lang="en-IN" b="1" dirty="0"/>
              <a:t>OpenCV (cv2)</a:t>
            </a:r>
            <a:r>
              <a:rPr lang="en-IN" dirty="0"/>
              <a:t> – Image processing, thresholding, morphological ops</a:t>
            </a:r>
          </a:p>
          <a:p>
            <a:r>
              <a:rPr lang="en-IN" b="1" dirty="0"/>
              <a:t>NumPy</a:t>
            </a:r>
            <a:r>
              <a:rPr lang="en-IN" dirty="0"/>
              <a:t> – Numeric computations</a:t>
            </a:r>
          </a:p>
          <a:p>
            <a:r>
              <a:rPr lang="en-IN" b="1" dirty="0"/>
              <a:t>Matplotlib</a:t>
            </a:r>
            <a:r>
              <a:rPr lang="en-IN" dirty="0"/>
              <a:t> – Visualization of probability maps &amp; masks</a:t>
            </a:r>
          </a:p>
          <a:p>
            <a:r>
              <a:rPr lang="en-IN" b="1" dirty="0"/>
              <a:t>Development Environment: </a:t>
            </a:r>
            <a:r>
              <a:rPr lang="en-IN" dirty="0" err="1"/>
              <a:t>Jupyter</a:t>
            </a:r>
            <a:r>
              <a:rPr lang="en-IN" dirty="0"/>
              <a:t> Notebook / VS Code and Windows 11 system</a:t>
            </a:r>
          </a:p>
          <a:p>
            <a:r>
              <a:rPr lang="en-IN" b="1" dirty="0"/>
              <a:t>Additional Tools:</a:t>
            </a:r>
          </a:p>
          <a:p>
            <a:r>
              <a:rPr lang="en-IN" b="1" dirty="0"/>
              <a:t>Kalman Filtering Implementation</a:t>
            </a:r>
            <a:r>
              <a:rPr lang="en-IN" dirty="0"/>
              <a:t> (Custom Python code)</a:t>
            </a:r>
          </a:p>
          <a:p>
            <a:r>
              <a:rPr lang="en-IN" b="1" dirty="0"/>
              <a:t>Google </a:t>
            </a:r>
            <a:r>
              <a:rPr lang="en-IN" b="1" dirty="0" err="1"/>
              <a:t>Colab</a:t>
            </a:r>
            <a:r>
              <a:rPr lang="en-IN" b="1" dirty="0"/>
              <a:t> :</a:t>
            </a:r>
            <a:r>
              <a:rPr lang="en-IN" dirty="0"/>
              <a:t>(for interactive execution)</a:t>
            </a:r>
          </a:p>
          <a:p>
            <a:r>
              <a:rPr lang="en-IN" b="1" dirty="0"/>
              <a:t>Image viewers (Windows Photos)</a:t>
            </a:r>
            <a:r>
              <a:rPr lang="en-IN" dirty="0"/>
              <a:t> for inspecting outputs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81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Satellite Images of Water Bodies dataset, originally published by Escobar . The dataset consists of paired RGB satellite images and manually annotated binary masks indicating the presence of water. </a:t>
            </a:r>
          </a:p>
          <a:p>
            <a:r>
              <a:rPr lang="en-US" dirty="0"/>
              <a:t>The images capture a wide variety of landscapes including rivers, lakes, coastal boundaries, wetlands, and inland water reservoirs.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D94CA-CE76-D7F7-FD73-D50C94DBD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6" y="915336"/>
            <a:ext cx="6798734" cy="1307163"/>
          </a:xfrm>
        </p:spPr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81C27-C077-71C8-524A-C3B85BAF1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632" y="2400301"/>
            <a:ext cx="6798736" cy="3534832"/>
          </a:xfrm>
        </p:spPr>
        <p:txBody>
          <a:bodyPr/>
          <a:lstStyle/>
          <a:p>
            <a:r>
              <a:rPr lang="en-US" dirty="0"/>
              <a:t>Input Acquisition</a:t>
            </a:r>
          </a:p>
          <a:p>
            <a:r>
              <a:rPr lang="en-US" dirty="0"/>
              <a:t>Feature Extraction for Initial Water Probability</a:t>
            </a:r>
          </a:p>
          <a:p>
            <a:r>
              <a:rPr lang="en-IN" dirty="0"/>
              <a:t>Kalman Spatial Smoothing</a:t>
            </a:r>
          </a:p>
          <a:p>
            <a:r>
              <a:rPr lang="en-IN" dirty="0"/>
              <a:t>Thresholding &amp; Binary Mask Generation</a:t>
            </a:r>
          </a:p>
          <a:p>
            <a:r>
              <a:rPr lang="en-IN" dirty="0"/>
              <a:t>Morphological Post-Processing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61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01CC0C-4959-B2C3-200D-8426D5F3F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1078765"/>
            <a:ext cx="7962900" cy="51034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BD2250-5711-CA45-6F3B-9125054F5799}"/>
              </a:ext>
            </a:extLst>
          </p:cNvPr>
          <p:cNvSpPr txBox="1"/>
          <p:nvPr/>
        </p:nvSpPr>
        <p:spPr>
          <a:xfrm>
            <a:off x="2425700" y="1148834"/>
            <a:ext cx="4800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U-Net style segmentation pipeline </a:t>
            </a:r>
          </a:p>
        </p:txBody>
      </p:sp>
    </p:spTree>
    <p:extLst>
      <p:ext uri="{BB962C8B-B14F-4D97-AF65-F5344CB8AC3E}">
        <p14:creationId xmlns:p14="http://schemas.microsoft.com/office/powerpoint/2010/main" val="3457039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E1E90-8054-51FC-70D3-A193BF33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633" y="728980"/>
            <a:ext cx="6798734" cy="36830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US" sz="3100" dirty="0"/>
              <a:t>Row-wise Learnable Kalman Filter </a:t>
            </a:r>
            <a:r>
              <a:rPr lang="en-US" sz="2700" dirty="0"/>
              <a:t>Mechanism</a:t>
            </a:r>
            <a:endParaRPr lang="en-IN" sz="27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A82D94-7FD9-4B69-FD97-C72AF98B0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1251" y="1762760"/>
            <a:ext cx="6670116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25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DEE3-C024-0746-BFB1-8528759D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Temporal smoothing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E3DE7-236F-BD4F-9311-C0C039989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Reduces frame-to-frame fluctuations (flicker) in predicted masks</a:t>
            </a:r>
          </a:p>
          <a:p>
            <a:r>
              <a:rPr lang="en-IN" dirty="0"/>
              <a:t>Improves stability for drone/satellite monitoring scenarios</a:t>
            </a:r>
          </a:p>
          <a:p>
            <a:r>
              <a:rPr lang="en-IN" dirty="0"/>
              <a:t>Provides consistent water-body estimates across sequential patches</a:t>
            </a:r>
          </a:p>
          <a:p>
            <a:r>
              <a:rPr lang="en-IN" dirty="0"/>
              <a:t>Enables </a:t>
            </a:r>
            <a:r>
              <a:rPr lang="en-IN" b="1" dirty="0"/>
              <a:t>next-frame prediction</a:t>
            </a:r>
            <a:r>
              <a:rPr lang="en-IN" dirty="0"/>
              <a:t> without needing temporal training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276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EDE0-BB8B-DE47-B55D-5FC53272E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smoothing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1781C-232E-DD45-B7E0-A1993F6B8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 large satellite image is divided into overlapping patches → forms a </a:t>
            </a:r>
            <a:r>
              <a:rPr lang="en-IN" i="1" dirty="0"/>
              <a:t>synthetic temporal sequence</a:t>
            </a:r>
            <a:endParaRPr lang="en-IN" dirty="0"/>
          </a:p>
          <a:p>
            <a:r>
              <a:rPr lang="en-IN" dirty="0"/>
              <a:t>Each patch is segmented by </a:t>
            </a:r>
            <a:r>
              <a:rPr lang="en-IN" b="1" dirty="0"/>
              <a:t>LKF-</a:t>
            </a:r>
            <a:r>
              <a:rPr lang="en-IN" b="1" dirty="0" err="1"/>
              <a:t>SegNet</a:t>
            </a:r>
            <a:r>
              <a:rPr lang="en-IN" dirty="0"/>
              <a:t> → produces probability maps </a:t>
            </a:r>
            <a:r>
              <a:rPr lang="en-IN" dirty="0" err="1"/>
              <a:t>ztz_tzt</a:t>
            </a:r>
            <a:r>
              <a:rPr lang="en-IN" dirty="0"/>
              <a:t>​</a:t>
            </a:r>
          </a:p>
          <a:p>
            <a:r>
              <a:rPr lang="en-IN" dirty="0"/>
              <a:t>A </a:t>
            </a:r>
            <a:r>
              <a:rPr lang="en-IN" b="1" dirty="0"/>
              <a:t>scalar Kalman filter is applied per pixel</a:t>
            </a:r>
            <a:r>
              <a:rPr lang="en-IN" dirty="0"/>
              <a:t> across frames</a:t>
            </a:r>
          </a:p>
          <a:p>
            <a:r>
              <a:rPr lang="en-IN" dirty="0"/>
              <a:t>Two outputs:</a:t>
            </a:r>
          </a:p>
          <a:p>
            <a:pPr lvl="1"/>
            <a:r>
              <a:rPr lang="en-IN" b="1" dirty="0"/>
              <a:t>Filtered mask</a:t>
            </a:r>
            <a:r>
              <a:rPr lang="en-IN" dirty="0"/>
              <a:t> </a:t>
            </a:r>
            <a:r>
              <a:rPr lang="en-IN" dirty="0" err="1"/>
              <a:t>xtx_txt</a:t>
            </a:r>
            <a:r>
              <a:rPr lang="en-IN" dirty="0"/>
              <a:t>​: smoothed over time</a:t>
            </a:r>
          </a:p>
          <a:p>
            <a:pPr lvl="1"/>
            <a:r>
              <a:rPr lang="en-IN" b="1" dirty="0"/>
              <a:t>Predicted mask</a:t>
            </a:r>
            <a:r>
              <a:rPr lang="en-IN" dirty="0"/>
              <a:t> xt∣t−1x_{t|t-1}xt∣t−1​: one-step-ahead forecast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067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7D464-D1E3-30C2-9CC1-D653AECD2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6" y="1104899"/>
            <a:ext cx="6798734" cy="1228725"/>
          </a:xfrm>
        </p:spPr>
        <p:txBody>
          <a:bodyPr/>
          <a:lstStyle/>
          <a:p>
            <a:r>
              <a:rPr lang="en-IN" dirty="0"/>
              <a:t>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8B4EE-C989-6694-ABAF-7C83655C2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2333625"/>
            <a:ext cx="6798736" cy="3601507"/>
          </a:xfrm>
        </p:spPr>
        <p:txBody>
          <a:bodyPr/>
          <a:lstStyle/>
          <a:p>
            <a:r>
              <a:rPr lang="en-IN" dirty="0"/>
              <a:t>Water Probability Map</a:t>
            </a:r>
          </a:p>
          <a:p>
            <a:r>
              <a:rPr lang="en-IN" dirty="0"/>
              <a:t>Final Segmentation Mask</a:t>
            </a:r>
          </a:p>
          <a:p>
            <a:r>
              <a:rPr lang="en-IN" dirty="0"/>
              <a:t>Performance Observations: </a:t>
            </a:r>
            <a:r>
              <a:rPr lang="en-US" dirty="0"/>
              <a:t>Thresholding combined with postprocessing produces </a:t>
            </a:r>
            <a:r>
              <a:rPr lang="en-US" b="1" dirty="0"/>
              <a:t>accurate and stable masks</a:t>
            </a:r>
            <a:r>
              <a:rPr lang="en-US" dirty="0"/>
              <a:t>.</a:t>
            </a:r>
          </a:p>
          <a:p>
            <a:r>
              <a:rPr lang="en-US" dirty="0"/>
              <a:t>Metric Used: Mean Absolute Error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3102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D4B4-D7AE-A7F4-25CA-1D3BE424E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840563"/>
          </a:xfrm>
        </p:spPr>
        <p:txBody>
          <a:bodyPr/>
          <a:lstStyle/>
          <a:p>
            <a:r>
              <a:rPr lang="en-IN" b="1" u="sng" dirty="0"/>
              <a:t>Qualitative Results:</a:t>
            </a:r>
            <a:br>
              <a:rPr lang="en-IN" dirty="0"/>
            </a:br>
            <a:r>
              <a:rPr lang="en-IN" sz="3200" dirty="0"/>
              <a:t>Sample Segmentation 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905F66-B966-1231-9E39-3D3F59522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2409224"/>
            <a:ext cx="7188200" cy="315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797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590B78-230E-9E92-CA54-FA0762DFA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663700"/>
            <a:ext cx="7524750" cy="4394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EC4D3E-CB98-2A84-8B46-3386B145327B}"/>
              </a:ext>
            </a:extLst>
          </p:cNvPr>
          <p:cNvSpPr txBox="1"/>
          <p:nvPr/>
        </p:nvSpPr>
        <p:spPr>
          <a:xfrm>
            <a:off x="927100" y="771148"/>
            <a:ext cx="70739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Train vs Test Segmentation Metrics</a:t>
            </a:r>
            <a:r>
              <a:rPr lang="en-US" sz="3200" b="1" dirty="0"/>
              <a:t>:           </a:t>
            </a:r>
          </a:p>
          <a:p>
            <a:r>
              <a:rPr lang="en-US" sz="2000" b="1" dirty="0"/>
              <a:t> Comparison across Accuracy, </a:t>
            </a:r>
            <a:r>
              <a:rPr lang="en-US" sz="2000" b="1" dirty="0" err="1"/>
              <a:t>IoU</a:t>
            </a:r>
            <a:r>
              <a:rPr lang="en-US" sz="2000" b="1" dirty="0"/>
              <a:t>, Precision, and Recall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22239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524174-0156-F3F8-4E9F-4810D121C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6" y="1208733"/>
            <a:ext cx="7524748" cy="24361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77A7B9-B82A-3971-0C52-F9A11FD0F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6" y="3644900"/>
            <a:ext cx="7524748" cy="2679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14E03C-F6A9-F06A-6159-943DB16E4CEA}"/>
              </a:ext>
            </a:extLst>
          </p:cNvPr>
          <p:cNvSpPr txBox="1"/>
          <p:nvPr/>
        </p:nvSpPr>
        <p:spPr>
          <a:xfrm>
            <a:off x="809626" y="632767"/>
            <a:ext cx="7750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Temporal Filtering Outputs and </a:t>
            </a:r>
            <a:r>
              <a:rPr lang="en-US" sz="2400" b="1" u="sng" dirty="0"/>
              <a:t>Temporal MAE 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877737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F7085-FB01-3CE4-673A-358C247E7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6" y="1536700"/>
            <a:ext cx="6798734" cy="682504"/>
          </a:xfrm>
        </p:spPr>
        <p:txBody>
          <a:bodyPr>
            <a:normAutofit fontScale="90000"/>
          </a:bodyPr>
          <a:lstStyle/>
          <a:p>
            <a:r>
              <a:rPr lang="en-IN" dirty="0"/>
              <a:t>Quantitative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3C0181-4EAB-1E1D-847F-FFA56C2B3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500" y="2578100"/>
            <a:ext cx="6642100" cy="2628900"/>
          </a:xfrm>
        </p:spPr>
      </p:pic>
    </p:spTree>
    <p:extLst>
      <p:ext uri="{BB962C8B-B14F-4D97-AF65-F5344CB8AC3E}">
        <p14:creationId xmlns:p14="http://schemas.microsoft.com/office/powerpoint/2010/main" val="510559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dirty="0"/>
              <a:t>• Model performance</a:t>
            </a:r>
          </a:p>
          <a:p>
            <a:pPr marL="0" indent="0">
              <a:buNone/>
            </a:pPr>
            <a:r>
              <a:rPr dirty="0"/>
              <a:t>• Strengths</a:t>
            </a:r>
          </a:p>
          <a:p>
            <a:pPr marL="0" indent="0">
              <a:buNone/>
            </a:pPr>
            <a:r>
              <a:rPr dirty="0"/>
              <a:t>• Observed improvements</a:t>
            </a:r>
          </a:p>
          <a:p>
            <a:pPr marL="0" indent="0">
              <a:buNone/>
            </a:pPr>
            <a:r>
              <a:rPr dirty="0"/>
              <a:t>• Limitations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dirty="0"/>
              <a:t>• Achieved lightweight, high-quality segmentation</a:t>
            </a:r>
          </a:p>
          <a:p>
            <a:pPr marL="0" indent="0">
              <a:buNone/>
            </a:pPr>
            <a:r>
              <a:rPr dirty="0"/>
              <a:t>• Kalman improved output</a:t>
            </a:r>
          </a:p>
          <a:p>
            <a:pPr marL="0" indent="0">
              <a:buNone/>
            </a:pPr>
            <a:r>
              <a:rPr dirty="0"/>
              <a:t>• Efficient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dirty="0"/>
              <a:t>• Real-time deployment</a:t>
            </a:r>
          </a:p>
          <a:p>
            <a:pPr marL="0" indent="0">
              <a:buNone/>
            </a:pPr>
            <a:r>
              <a:rPr dirty="0"/>
              <a:t>• Multi-class segmentation</a:t>
            </a:r>
          </a:p>
          <a:p>
            <a:pPr marL="0" indent="0">
              <a:buNone/>
            </a:pPr>
            <a:r>
              <a:rPr dirty="0"/>
              <a:t>• GIS integration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2539999"/>
            <a:ext cx="7467599" cy="34026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[1] D. Liao, J. Sun, Z. Deng, Y. Zhao, J. Zhang, and D. Ou, “A Lightweight Network for Water Body </a:t>
            </a:r>
            <a:r>
              <a:rPr lang="en-IN" dirty="0" err="1"/>
              <a:t>Segmentationin</a:t>
            </a:r>
            <a:r>
              <a:rPr lang="en-IN" dirty="0"/>
              <a:t> Agricultural Remote Sensing Using Learnable Kalman Filters and Attention Mechanisms,” Applied Sciences, vol. 15, no. 11, p. 6292, 2025.</a:t>
            </a:r>
          </a:p>
          <a:p>
            <a:pPr marL="0" indent="0">
              <a:buNone/>
            </a:pPr>
            <a:r>
              <a:rPr lang="en-IN" dirty="0"/>
              <a:t>[2] M. Wieland, S. Martinis, R. Kiefl, and V. </a:t>
            </a:r>
            <a:r>
              <a:rPr lang="en-IN" dirty="0" err="1"/>
              <a:t>Gstaiger</a:t>
            </a:r>
            <a:r>
              <a:rPr lang="en-IN" dirty="0"/>
              <a:t>, “Semantic segmentation of water bodies in very high-resolution satellite and aerial images,” Remote Sensing  of Environment, vol. 287, p. 113452, 2023.</a:t>
            </a:r>
          </a:p>
          <a:p>
            <a:pPr marL="0" indent="0">
              <a:buNone/>
            </a:pPr>
            <a:r>
              <a:rPr lang="en-IN" dirty="0"/>
              <a:t>[3] Z. Miao, K. Fu, H. Sun, X. Sun, and M. Yan, “Automatic Water Body Segmentation From High-Resolution Satellite Images via Deep Networks,” IEEE Geoscience and Remote Sensing Letters, vol. 15, no.4, pp. 602–606, 2018.</a:t>
            </a:r>
          </a:p>
          <a:p>
            <a:pPr marL="0" indent="0">
              <a:buNone/>
            </a:pPr>
            <a:r>
              <a:rPr lang="en-IN" dirty="0"/>
              <a:t>[4] J. </a:t>
            </a:r>
            <a:r>
              <a:rPr lang="en-IN" dirty="0" err="1"/>
              <a:t>Bersvendsen</a:t>
            </a:r>
            <a:r>
              <a:rPr lang="en-IN" dirty="0"/>
              <a:t> et al., “Automated Segmentation of the Right </a:t>
            </a:r>
            <a:r>
              <a:rPr lang="en-IN" dirty="0" err="1"/>
              <a:t>Ventriclein</a:t>
            </a:r>
            <a:r>
              <a:rPr lang="en-IN" dirty="0"/>
              <a:t> 3D Echocardiography: A Kalman Filter State Estimation </a:t>
            </a:r>
            <a:r>
              <a:rPr lang="en-IN" dirty="0" err="1"/>
              <a:t>Approach,”IEEE</a:t>
            </a:r>
            <a:r>
              <a:rPr lang="en-IN" dirty="0"/>
              <a:t> Transactions on Medical Imaging, vol. 35, no. 1, pp. 42–51, 2016.</a:t>
            </a:r>
          </a:p>
          <a:p>
            <a:pPr marL="0" indent="0">
              <a:buNone/>
            </a:pPr>
            <a:r>
              <a:rPr lang="en-IN" dirty="0"/>
              <a:t>[5] O. </a:t>
            </a:r>
            <a:r>
              <a:rPr lang="en-IN" dirty="0" err="1"/>
              <a:t>Ronneberger</a:t>
            </a:r>
            <a:r>
              <a:rPr lang="en-IN" dirty="0"/>
              <a:t>, P. Fischer, and T. Brox, “U-Net: Convolutional Networks for Biomedical Image Segmentation,” in MICCAI, 2015.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2865</TotalTime>
  <Words>639</Words>
  <Application>Microsoft Macintosh PowerPoint</Application>
  <PresentationFormat>On-screen Show (4:3)</PresentationFormat>
  <Paragraphs>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Garamond</vt:lpstr>
      <vt:lpstr>Times New Roman</vt:lpstr>
      <vt:lpstr>Organic</vt:lpstr>
      <vt:lpstr>A Mini Project on Water Body Segmentation</vt:lpstr>
      <vt:lpstr>Introduction / Problem Statement</vt:lpstr>
      <vt:lpstr>Objectives</vt:lpstr>
      <vt:lpstr>SOFTWARE / TOOLS USED </vt:lpstr>
      <vt:lpstr>Dataset Description</vt:lpstr>
      <vt:lpstr>Proposed Methodology </vt:lpstr>
      <vt:lpstr>PowerPoint Presentation</vt:lpstr>
      <vt:lpstr> Row-wise Learnable Kalman Filter Mechanism</vt:lpstr>
      <vt:lpstr>Temporal smoothing </vt:lpstr>
      <vt:lpstr>Temporal smoothing </vt:lpstr>
      <vt:lpstr>Results </vt:lpstr>
      <vt:lpstr>Qualitative Results: Sample Segmentation Result</vt:lpstr>
      <vt:lpstr>PowerPoint Presentation</vt:lpstr>
      <vt:lpstr>PowerPoint Presentation</vt:lpstr>
      <vt:lpstr>Quantitative Results</vt:lpstr>
      <vt:lpstr>Discussion</vt:lpstr>
      <vt:lpstr>Conclusion</vt:lpstr>
      <vt:lpstr>Future Scope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Mini Project on Water Body Segmentation</dc:title>
  <dc:subject/>
  <dc:creator>Tanushree Das</dc:creator>
  <cp:keywords/>
  <dc:description>generated using python-pptx</dc:description>
  <cp:lastModifiedBy>Microsoft Office User</cp:lastModifiedBy>
  <cp:revision>12</cp:revision>
  <dcterms:created xsi:type="dcterms:W3CDTF">2013-01-27T09:14:16Z</dcterms:created>
  <dcterms:modified xsi:type="dcterms:W3CDTF">2025-12-12T05:47:14Z</dcterms:modified>
  <cp:category/>
</cp:coreProperties>
</file>